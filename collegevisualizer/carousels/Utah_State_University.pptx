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6858000" cy="6858000"/>
  <p:notesSz cx="6858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371600"/>
            <a:ext cx="616305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347472" y="3017520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State University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47472" y="354787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Logan, UT  ·  Public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14600" y="3968496"/>
            <a:ext cx="1828800" cy="18288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401824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401824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456176" y="4206240"/>
            <a:ext cx="20543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456176" y="4736592"/>
            <a:ext cx="20543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47472" y="6309360"/>
            <a:ext cx="61630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swipe for full profile →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Selectivity &amp; Scores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371600"/>
          </a:xfrm>
          <a:prstGeom prst="roundRect">
            <a:avLst>
              <a:gd name="adj" fmla="val 666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21792" y="1737360"/>
            <a:ext cx="2011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92%</a:t>
            </a:r>
            <a:endParaRPr lang="en-US" sz="6400" dirty="0"/>
          </a:p>
        </p:txBody>
      </p:sp>
      <p:sp>
        <p:nvSpPr>
          <p:cNvPr id="8" name="Text 6"/>
          <p:cNvSpPr/>
          <p:nvPr/>
        </p:nvSpPr>
        <p:spPr>
          <a:xfrm>
            <a:off x="2724912" y="196596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ACCEPTANCE</a:t>
            </a:r>
            <a:endParaRPr lang="en-US" sz="1100" dirty="0"/>
          </a:p>
          <a:p>
            <a:pPr algn="l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724912" y="2578608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Enrollment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47472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4632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1187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84632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SAT  ·  out of 1600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483864" y="324612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21024" y="331927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621024" y="372160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Mid  ·  out of 36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47472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84632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20,272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84632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  ·  undergrads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483864" y="4206240"/>
            <a:ext cx="3026664" cy="841248"/>
          </a:xfrm>
          <a:prstGeom prst="roundRect">
            <a:avLst>
              <a:gd name="adj" fmla="val 869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21024" y="4279392"/>
            <a:ext cx="275234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59%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3621024" y="4681728"/>
            <a:ext cx="2752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 Rate  ·  4-year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&amp; AID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&amp; Financial Aid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81051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Tuition (Out-of-State)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30352" y="207568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$24,802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2450592" y="216712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" y="297180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30352" y="309067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Net Price (after aid)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30352" y="335584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$14,936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2450592" y="344728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15" name="Shape 13"/>
          <p:cNvSpPr/>
          <p:nvPr/>
        </p:nvSpPr>
        <p:spPr>
          <a:xfrm>
            <a:off x="2450592" y="3447288"/>
            <a:ext cx="2389866" cy="128016"/>
          </a:xfrm>
          <a:prstGeom prst="roundRect">
            <a:avLst>
              <a:gd name="adj" fmla="val 28571"/>
            </a:avLst>
          </a:prstGeom>
          <a:solidFill>
            <a:srgbClr val="F8CDC6"/>
          </a:solidFill>
          <a:ln/>
        </p:spPr>
      </p:sp>
      <p:sp>
        <p:nvSpPr>
          <p:cNvPr id="16" name="Text 14"/>
          <p:cNvSpPr/>
          <p:nvPr/>
        </p:nvSpPr>
        <p:spPr>
          <a:xfrm>
            <a:off x="530352" y="3721608"/>
            <a:ext cx="57972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avg after financial aid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347472" y="4251960"/>
            <a:ext cx="6163056" cy="1115568"/>
          </a:xfrm>
          <a:prstGeom prst="roundRect">
            <a:avLst>
              <a:gd name="adj" fmla="val 8197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30352" y="4370832"/>
            <a:ext cx="57972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Student Debt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530352" y="4636008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$14,340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2450592" y="4727448"/>
            <a:ext cx="3968496" cy="128016"/>
          </a:xfrm>
          <a:prstGeom prst="roundRect">
            <a:avLst>
              <a:gd name="adj" fmla="val 28571"/>
            </a:avLst>
          </a:prstGeom>
          <a:solidFill>
            <a:srgbClr val="384A5E"/>
          </a:solidFill>
          <a:ln/>
        </p:spPr>
      </p:sp>
      <p:sp>
        <p:nvSpPr>
          <p:cNvPr id="21" name="Shape 19"/>
          <p:cNvSpPr/>
          <p:nvPr/>
        </p:nvSpPr>
        <p:spPr>
          <a:xfrm>
            <a:off x="2450592" y="4727448"/>
            <a:ext cx="2294502" cy="128016"/>
          </a:xfrm>
          <a:prstGeom prst="roundRect">
            <a:avLst>
              <a:gd name="adj" fmla="val 28571"/>
            </a:avLst>
          </a:prstGeom>
          <a:solidFill>
            <a:srgbClr val="9EC1CC"/>
          </a:solidFill>
          <a:ln/>
        </p:spPr>
      </p:sp>
      <p:sp>
        <p:nvSpPr>
          <p:cNvPr id="22" name="Text 2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OUTCOMES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Post-Grad Earnings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645920"/>
          </a:xfrm>
          <a:prstGeom prst="roundRect">
            <a:avLst>
              <a:gd name="adj" fmla="val 5556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76072" y="1792224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MEDIAN EARNINGS  ·  10 YEARS AFTER ENROLLMENT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76072" y="2057400"/>
            <a:ext cx="57058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$54,022</a:t>
            </a:r>
            <a:endParaRPr lang="en-US" sz="5600" dirty="0"/>
          </a:p>
        </p:txBody>
      </p:sp>
      <p:sp>
        <p:nvSpPr>
          <p:cNvPr id="9" name="Text 7"/>
          <p:cNvSpPr/>
          <p:nvPr/>
        </p:nvSpPr>
        <p:spPr>
          <a:xfrm>
            <a:off x="576072" y="2880360"/>
            <a:ext cx="57058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year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34930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76072" y="3611880"/>
            <a:ext cx="570585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2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YEARS AFTER ENROLLMENT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3858768"/>
            <a:ext cx="2743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$44,822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4864608" y="380390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384A5E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3803904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+21% growth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4681728"/>
            <a:ext cx="61630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U.S. Dept. of Education College Scorecard, 2025–26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&amp; Cycles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84632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484632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Counselor Rec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483864" y="22128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21024" y="22860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21024" y="26700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(Req)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47472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4632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84632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Teacher Recs (Opt)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483864" y="31272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21024" y="32004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3621024" y="35844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Recs (Opt)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47472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484632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Supplemental Essays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483864" y="4041648"/>
            <a:ext cx="3026664" cy="777240"/>
          </a:xfrm>
          <a:prstGeom prst="roundRect">
            <a:avLst>
              <a:gd name="adj" fmla="val 9412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3621024" y="4114800"/>
            <a:ext cx="27523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21024" y="4498848"/>
            <a:ext cx="27523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spc="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App Essay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47472" y="2560320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data not available for this school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347472" y="5120640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i="1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Source: Common App, 2025–26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Body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64208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30352" y="173736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Women  54%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498848" y="17373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  46%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" y="2103120"/>
            <a:ext cx="5797296" cy="201168"/>
          </a:xfrm>
          <a:prstGeom prst="roundRect">
            <a:avLst>
              <a:gd name="adj" fmla="val 27273"/>
            </a:avLst>
          </a:prstGeom>
          <a:solidFill>
            <a:srgbClr val="384A5E"/>
          </a:solidFill>
          <a:ln/>
        </p:spPr>
      </p:sp>
      <p:sp>
        <p:nvSpPr>
          <p:cNvPr id="10" name="Shape 8"/>
          <p:cNvSpPr/>
          <p:nvPr/>
        </p:nvSpPr>
        <p:spPr>
          <a:xfrm>
            <a:off x="530352" y="2103120"/>
            <a:ext cx="3110249" cy="201168"/>
          </a:xfrm>
          <a:prstGeom prst="roundRect">
            <a:avLst>
              <a:gd name="adj" fmla="val 27273"/>
            </a:avLst>
          </a:prstGeom>
          <a:solidFill>
            <a:srgbClr val="F8CDC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" y="2834640"/>
            <a:ext cx="61630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RACE &amp; ETHNICITY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47472" y="314553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1810512" y="3200400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6035040" y="3145536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81%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" y="3712464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Hispanic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810512" y="3767328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8" name="Shape 16"/>
          <p:cNvSpPr/>
          <p:nvPr/>
        </p:nvSpPr>
        <p:spPr>
          <a:xfrm>
            <a:off x="1810512" y="3767328"/>
            <a:ext cx="368039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9" name="Text 17"/>
          <p:cNvSpPr/>
          <p:nvPr/>
        </p:nvSpPr>
        <p:spPr>
          <a:xfrm>
            <a:off x="6035040" y="3712464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7%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47472" y="4279392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or More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10512" y="4334256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10512" y="4334256"/>
            <a:ext cx="143612" cy="164592"/>
          </a:xfrm>
          <a:prstGeom prst="roundRect">
            <a:avLst>
              <a:gd name="adj" fmla="val 25469"/>
            </a:avLst>
          </a:prstGeom>
          <a:solidFill>
            <a:srgbClr val="9EC1CC"/>
          </a:solidFill>
          <a:ln/>
        </p:spPr>
      </p:sp>
      <p:sp>
        <p:nvSpPr>
          <p:cNvPr id="23" name="Text 21"/>
          <p:cNvSpPr/>
          <p:nvPr/>
        </p:nvSpPr>
        <p:spPr>
          <a:xfrm>
            <a:off x="6035040" y="4279392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3%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347472" y="484632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1810512" y="4901184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6" name="Shape 24"/>
          <p:cNvSpPr/>
          <p:nvPr/>
        </p:nvSpPr>
        <p:spPr>
          <a:xfrm>
            <a:off x="1810512" y="4901184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27" name="Text 25"/>
          <p:cNvSpPr/>
          <p:nvPr/>
        </p:nvSpPr>
        <p:spPr>
          <a:xfrm>
            <a:off x="6035040" y="48463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47472" y="5413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Black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810512" y="5468112"/>
            <a:ext cx="415137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30" name="Shape 28"/>
          <p:cNvSpPr/>
          <p:nvPr/>
        </p:nvSpPr>
        <p:spPr>
          <a:xfrm>
            <a:off x="1810512" y="5468112"/>
            <a:ext cx="45720" cy="164592"/>
          </a:xfrm>
          <a:prstGeom prst="roundRect">
            <a:avLst>
              <a:gd name="adj" fmla="val 80000"/>
            </a:avLst>
          </a:prstGeom>
          <a:solidFill>
            <a:srgbClr val="9EC1CC"/>
          </a:solidFill>
          <a:ln/>
        </p:spPr>
      </p:sp>
      <p:sp>
        <p:nvSpPr>
          <p:cNvPr id="31" name="Text 29"/>
          <p:cNvSpPr/>
          <p:nvPr/>
        </p:nvSpPr>
        <p:spPr>
          <a:xfrm>
            <a:off x="6035040" y="541324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1%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658368"/>
            <a:ext cx="6163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spc="3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PROGRAMS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47472" y="987552"/>
            <a:ext cx="61630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Fields of Study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47472" y="1691640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12064" y="181965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9" name="Shape 7"/>
          <p:cNvSpPr/>
          <p:nvPr/>
        </p:nvSpPr>
        <p:spPr>
          <a:xfrm>
            <a:off x="2450592" y="1883664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F8CDC6"/>
          </a:solidFill>
          <a:ln/>
        </p:spPr>
      </p:sp>
      <p:sp>
        <p:nvSpPr>
          <p:cNvPr id="10" name="Text 8"/>
          <p:cNvSpPr/>
          <p:nvPr/>
        </p:nvSpPr>
        <p:spPr>
          <a:xfrm>
            <a:off x="5870448" y="181965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47472" y="2350008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12064" y="247802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Social Science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450592" y="2542032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4" name="Shape 12"/>
          <p:cNvSpPr/>
          <p:nvPr/>
        </p:nvSpPr>
        <p:spPr>
          <a:xfrm>
            <a:off x="2450592" y="2542032"/>
            <a:ext cx="30144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15" name="Text 13"/>
          <p:cNvSpPr/>
          <p:nvPr/>
        </p:nvSpPr>
        <p:spPr>
          <a:xfrm>
            <a:off x="5870448" y="2478024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4.8%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47472" y="3008376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12064" y="313639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450592" y="3200400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19" name="Shape 17"/>
          <p:cNvSpPr/>
          <p:nvPr/>
        </p:nvSpPr>
        <p:spPr>
          <a:xfrm>
            <a:off x="2450592" y="3200400"/>
            <a:ext cx="2826014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0" name="Text 18"/>
          <p:cNvSpPr/>
          <p:nvPr/>
        </p:nvSpPr>
        <p:spPr>
          <a:xfrm>
            <a:off x="5870448" y="3136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4.5%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" y="3666744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12064" y="3794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450592" y="3858768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4" name="Shape 22"/>
          <p:cNvSpPr/>
          <p:nvPr/>
        </p:nvSpPr>
        <p:spPr>
          <a:xfrm>
            <a:off x="2450592" y="3858768"/>
            <a:ext cx="2009610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25" name="Text 23"/>
          <p:cNvSpPr/>
          <p:nvPr/>
        </p:nvSpPr>
        <p:spPr>
          <a:xfrm>
            <a:off x="5870448" y="37947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3.2%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47472" y="4325112"/>
            <a:ext cx="6163056" cy="548640"/>
          </a:xfrm>
          <a:prstGeom prst="roundRect">
            <a:avLst>
              <a:gd name="adj" fmla="val 13333"/>
            </a:avLst>
          </a:prstGeom>
          <a:solidFill>
            <a:srgbClr val="425366"/>
          </a:solidFill>
          <a:ln/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512064" y="445312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Computer Sci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450592" y="4517136"/>
            <a:ext cx="3328416" cy="164592"/>
          </a:xfrm>
          <a:prstGeom prst="roundRect">
            <a:avLst>
              <a:gd name="adj" fmla="val 22222"/>
            </a:avLst>
          </a:prstGeom>
          <a:solidFill>
            <a:srgbClr val="384A5E"/>
          </a:solidFill>
          <a:ln/>
        </p:spPr>
      </p:sp>
      <p:sp>
        <p:nvSpPr>
          <p:cNvPr id="29" name="Shape 27"/>
          <p:cNvSpPr/>
          <p:nvPr/>
        </p:nvSpPr>
        <p:spPr>
          <a:xfrm>
            <a:off x="2450592" y="4517136"/>
            <a:ext cx="1193206" cy="164592"/>
          </a:xfrm>
          <a:prstGeom prst="roundRect">
            <a:avLst>
              <a:gd name="adj" fmla="val 22222"/>
            </a:avLst>
          </a:prstGeom>
          <a:solidFill>
            <a:srgbClr val="9EC1CC"/>
          </a:solidFill>
          <a:ln/>
        </p:spPr>
      </p:sp>
      <p:sp>
        <p:nvSpPr>
          <p:cNvPr id="30" name="Text 28"/>
          <p:cNvSpPr/>
          <p:nvPr/>
        </p:nvSpPr>
        <p:spPr>
          <a:xfrm>
            <a:off x="5870448" y="445312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1.9%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47472" y="5193792"/>
            <a:ext cx="6163056" cy="1005840"/>
          </a:xfrm>
          <a:prstGeom prst="roundRect">
            <a:avLst>
              <a:gd name="adj" fmla="val 9091"/>
            </a:avLst>
          </a:prstGeom>
          <a:solidFill>
            <a:srgbClr val="384A5E"/>
          </a:solidFill>
          <a:ln w="635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47472" y="5230368"/>
            <a:ext cx="6163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 full profile →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47472" y="5614416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spc="10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47472" y="6455664"/>
            <a:ext cx="6163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spc="10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Utah  ·  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4A5B6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144768" y="301752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Ξ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347472" y="329184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spc="150" kern="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347472" y="1005840"/>
            <a:ext cx="61630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47472" y="1627632"/>
            <a:ext cx="616305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1,400+</a:t>
            </a:r>
            <a:endParaRPr lang="en-US" sz="8200" dirty="0"/>
          </a:p>
        </p:txBody>
      </p:sp>
      <p:sp>
        <p:nvSpPr>
          <p:cNvPr id="6" name="Text 4"/>
          <p:cNvSpPr/>
          <p:nvPr/>
        </p:nvSpPr>
        <p:spPr>
          <a:xfrm>
            <a:off x="347472" y="2606040"/>
            <a:ext cx="6163056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5EF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profiles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331720" y="3346704"/>
            <a:ext cx="2194560" cy="22860"/>
          </a:xfrm>
          <a:prstGeom prst="rect">
            <a:avLst/>
          </a:prstGeom>
          <a:solidFill>
            <a:srgbClr val="9EC1CC"/>
          </a:solidFill>
          <a:ln w="12700">
            <a:solidFill>
              <a:srgbClr val="9EC1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47472" y="3566160"/>
            <a:ext cx="139903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9" name="Text 7"/>
          <p:cNvSpPr/>
          <p:nvPr/>
        </p:nvSpPr>
        <p:spPr>
          <a:xfrm>
            <a:off x="347472" y="3566160"/>
            <a:ext cx="13990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56232" y="3566160"/>
            <a:ext cx="873252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1" name="Text 9"/>
          <p:cNvSpPr/>
          <p:nvPr/>
        </p:nvSpPr>
        <p:spPr>
          <a:xfrm>
            <a:off x="1856232" y="3566160"/>
            <a:ext cx="8732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39212" y="3566160"/>
            <a:ext cx="1188720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3" name="Text 11"/>
          <p:cNvSpPr/>
          <p:nvPr/>
        </p:nvSpPr>
        <p:spPr>
          <a:xfrm>
            <a:off x="2839212" y="356616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earnings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137660" y="3566160"/>
            <a:ext cx="1609344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5" name="Text 13"/>
          <p:cNvSpPr/>
          <p:nvPr/>
        </p:nvSpPr>
        <p:spPr>
          <a:xfrm>
            <a:off x="4137660" y="3566160"/>
            <a:ext cx="16093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demographics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7472" y="3986784"/>
            <a:ext cx="2029968" cy="310896"/>
          </a:xfrm>
          <a:prstGeom prst="roundRect">
            <a:avLst>
              <a:gd name="adj" fmla="val 17647"/>
            </a:avLst>
          </a:prstGeom>
          <a:solidFill>
            <a:srgbClr val="384A5E"/>
          </a:solidFill>
          <a:ln/>
        </p:spPr>
      </p:sp>
      <p:sp>
        <p:nvSpPr>
          <p:cNvPr id="17" name="Text 15"/>
          <p:cNvSpPr/>
          <p:nvPr/>
        </p:nvSpPr>
        <p:spPr>
          <a:xfrm>
            <a:off x="347472" y="3986784"/>
            <a:ext cx="20299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info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4645152"/>
            <a:ext cx="6163056" cy="1417320"/>
          </a:xfrm>
          <a:prstGeom prst="roundRect">
            <a:avLst>
              <a:gd name="adj" fmla="val 7742"/>
            </a:avLst>
          </a:prstGeom>
          <a:solidFill>
            <a:srgbClr val="425366"/>
          </a:solidFill>
          <a:ln w="10160">
            <a:solidFill>
              <a:srgbClr val="F8CDC6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47472" y="4736592"/>
            <a:ext cx="6163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8CDC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collegevisualizer.com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347472" y="5193792"/>
            <a:ext cx="61630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50" kern="0" dirty="0">
                <a:solidFill>
                  <a:srgbClr val="9EC1C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· no signup · link in bio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47472" y="5468112"/>
            <a:ext cx="61630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9A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↑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Utah — College Visualizer</dc:title>
  <dc:subject>PptxGenJS Presentation</dc:subject>
  <dc:creator>College Visualizer</dc:creator>
  <cp:lastModifiedBy>College Visualizer</cp:lastModifiedBy>
  <cp:revision>1</cp:revision>
  <dcterms:created xsi:type="dcterms:W3CDTF">2026-06-11T21:08:35Z</dcterms:created>
  <dcterms:modified xsi:type="dcterms:W3CDTF">2026-06-11T21:08:35Z</dcterms:modified>
</cp:coreProperties>
</file>